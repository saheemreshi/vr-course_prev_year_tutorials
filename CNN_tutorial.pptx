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41d5c8f84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41d5c8f84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41d5c8f84a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41d5c8f84a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41d5c8f84a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41d5c8f84a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41d5c8f84a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41d5c8f84a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41d5c8f84a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41d5c8f84a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41d5c8f84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41d5c8f84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41d5c8f84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41d5c8f84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808800" y="93350"/>
            <a:ext cx="7526400" cy="657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GB" sz="3180"/>
              <a:t>Effect of stride,padding and pooling</a:t>
            </a:r>
            <a:endParaRPr sz="3180"/>
          </a:p>
        </p:txBody>
      </p:sp>
      <p:pic>
        <p:nvPicPr>
          <p:cNvPr id="55" name="Google Shape;55;p13" title="padding_and_stride.png"/>
          <p:cNvPicPr preferRelativeResize="0"/>
          <p:nvPr/>
        </p:nvPicPr>
        <p:blipFill>
          <a:blip r:embed="rId3">
            <a:alphaModFix/>
          </a:blip>
          <a:stretch>
            <a:fillRect/>
          </a:stretch>
        </p:blipFill>
        <p:spPr>
          <a:xfrm>
            <a:off x="385575" y="3786775"/>
            <a:ext cx="8839199" cy="1047120"/>
          </a:xfrm>
          <a:prstGeom prst="rect">
            <a:avLst/>
          </a:prstGeom>
          <a:noFill/>
          <a:ln>
            <a:noFill/>
          </a:ln>
        </p:spPr>
      </p:pic>
      <p:pic>
        <p:nvPicPr>
          <p:cNvPr id="56" name="Google Shape;56;p13" title="padding.png"/>
          <p:cNvPicPr preferRelativeResize="0"/>
          <p:nvPr/>
        </p:nvPicPr>
        <p:blipFill>
          <a:blip r:embed="rId4">
            <a:alphaModFix/>
          </a:blip>
          <a:stretch>
            <a:fillRect/>
          </a:stretch>
        </p:blipFill>
        <p:spPr>
          <a:xfrm>
            <a:off x="4320696" y="1179200"/>
            <a:ext cx="4618903" cy="1724050"/>
          </a:xfrm>
          <a:prstGeom prst="rect">
            <a:avLst/>
          </a:prstGeom>
          <a:noFill/>
          <a:ln>
            <a:noFill/>
          </a:ln>
        </p:spPr>
      </p:pic>
      <p:pic>
        <p:nvPicPr>
          <p:cNvPr id="57" name="Google Shape;57;p13" title="stride.png"/>
          <p:cNvPicPr preferRelativeResize="0"/>
          <p:nvPr/>
        </p:nvPicPr>
        <p:blipFill>
          <a:blip r:embed="rId5">
            <a:alphaModFix/>
          </a:blip>
          <a:stretch>
            <a:fillRect/>
          </a:stretch>
        </p:blipFill>
        <p:spPr>
          <a:xfrm>
            <a:off x="92800" y="1235138"/>
            <a:ext cx="3892234" cy="1668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ctrTitle"/>
          </p:nvPr>
        </p:nvSpPr>
        <p:spPr>
          <a:xfrm>
            <a:off x="750600" y="0"/>
            <a:ext cx="7642800" cy="5811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SzPct val="28448"/>
              <a:buNone/>
            </a:pPr>
            <a:r>
              <a:rPr lang="en-GB" sz="3480"/>
              <a:t>Pooling</a:t>
            </a:r>
            <a:endParaRPr sz="3480"/>
          </a:p>
        </p:txBody>
      </p:sp>
      <p:sp>
        <p:nvSpPr>
          <p:cNvPr id="63" name="Google Shape;63;p14"/>
          <p:cNvSpPr txBox="1"/>
          <p:nvPr>
            <p:ph idx="1" type="subTitle"/>
          </p:nvPr>
        </p:nvSpPr>
        <p:spPr>
          <a:xfrm>
            <a:off x="505275" y="2571750"/>
            <a:ext cx="3131700" cy="342900"/>
          </a:xfrm>
          <a:prstGeom prst="rect">
            <a:avLst/>
          </a:prstGeom>
        </p:spPr>
        <p:txBody>
          <a:bodyPr anchorCtr="0" anchor="t" bIns="91425" lIns="91425" spcFirstLastPara="1" rIns="91425" wrap="square" tIns="91425">
            <a:normAutofit fontScale="70000" lnSpcReduction="20000"/>
          </a:bodyPr>
          <a:lstStyle/>
          <a:p>
            <a:pPr indent="0" lvl="0" marL="0" rtl="0" algn="ctr">
              <a:spcBef>
                <a:spcPts val="0"/>
              </a:spcBef>
              <a:spcAft>
                <a:spcPts val="0"/>
              </a:spcAft>
              <a:buNone/>
            </a:pPr>
            <a:r>
              <a:rPr lang="en-GB" sz="1700"/>
              <a:t>Max pooling</a:t>
            </a:r>
            <a:endParaRPr sz="1700"/>
          </a:p>
        </p:txBody>
      </p:sp>
      <p:pic>
        <p:nvPicPr>
          <p:cNvPr id="64" name="Google Shape;64;p14" title="pooling.png"/>
          <p:cNvPicPr preferRelativeResize="0"/>
          <p:nvPr/>
        </p:nvPicPr>
        <p:blipFill>
          <a:blip r:embed="rId3">
            <a:alphaModFix/>
          </a:blip>
          <a:stretch>
            <a:fillRect/>
          </a:stretch>
        </p:blipFill>
        <p:spPr>
          <a:xfrm>
            <a:off x="252100" y="728325"/>
            <a:ext cx="3921476" cy="1843425"/>
          </a:xfrm>
          <a:prstGeom prst="rect">
            <a:avLst/>
          </a:prstGeom>
          <a:noFill/>
          <a:ln>
            <a:noFill/>
          </a:ln>
        </p:spPr>
      </p:pic>
      <p:pic>
        <p:nvPicPr>
          <p:cNvPr id="65" name="Google Shape;65;p14" title="average_pool.png"/>
          <p:cNvPicPr preferRelativeResize="0"/>
          <p:nvPr/>
        </p:nvPicPr>
        <p:blipFill>
          <a:blip r:embed="rId4">
            <a:alphaModFix/>
          </a:blip>
          <a:stretch>
            <a:fillRect/>
          </a:stretch>
        </p:blipFill>
        <p:spPr>
          <a:xfrm>
            <a:off x="311700" y="3261700"/>
            <a:ext cx="3725600" cy="1310850"/>
          </a:xfrm>
          <a:prstGeom prst="rect">
            <a:avLst/>
          </a:prstGeom>
          <a:noFill/>
          <a:ln>
            <a:noFill/>
          </a:ln>
        </p:spPr>
      </p:pic>
      <p:sp>
        <p:nvSpPr>
          <p:cNvPr id="66" name="Google Shape;66;p14"/>
          <p:cNvSpPr txBox="1"/>
          <p:nvPr>
            <p:ph idx="1" type="subTitle"/>
          </p:nvPr>
        </p:nvSpPr>
        <p:spPr>
          <a:xfrm>
            <a:off x="546075" y="4640175"/>
            <a:ext cx="3131700" cy="342900"/>
          </a:xfrm>
          <a:prstGeom prst="rect">
            <a:avLst/>
          </a:prstGeom>
        </p:spPr>
        <p:txBody>
          <a:bodyPr anchorCtr="0" anchor="t" bIns="91425" lIns="91425" spcFirstLastPara="1" rIns="91425" wrap="square" tIns="91425">
            <a:normAutofit fontScale="70000" lnSpcReduction="20000"/>
          </a:bodyPr>
          <a:lstStyle/>
          <a:p>
            <a:pPr indent="0" lvl="0" marL="0" rtl="0" algn="ctr">
              <a:spcBef>
                <a:spcPts val="0"/>
              </a:spcBef>
              <a:spcAft>
                <a:spcPts val="0"/>
              </a:spcAft>
              <a:buNone/>
            </a:pPr>
            <a:r>
              <a:rPr lang="en-GB" sz="1700"/>
              <a:t>Average </a:t>
            </a:r>
            <a:r>
              <a:rPr lang="en-GB" sz="1700"/>
              <a:t>pooling</a:t>
            </a:r>
            <a:endParaRPr sz="1700"/>
          </a:p>
        </p:txBody>
      </p:sp>
      <p:sp>
        <p:nvSpPr>
          <p:cNvPr id="67" name="Google Shape;67;p14"/>
          <p:cNvSpPr txBox="1"/>
          <p:nvPr>
            <p:ph idx="1" type="subTitle"/>
          </p:nvPr>
        </p:nvSpPr>
        <p:spPr>
          <a:xfrm>
            <a:off x="4377275" y="3157550"/>
            <a:ext cx="4292700" cy="16215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0"/>
              </a:spcAft>
              <a:buNone/>
            </a:pPr>
            <a:r>
              <a:rPr lang="en-GB" sz="1700"/>
              <a:t>Average pooling</a:t>
            </a:r>
            <a:endParaRPr sz="1700"/>
          </a:p>
          <a:p>
            <a:pPr indent="0" lvl="0" marL="0" rtl="0" algn="ctr">
              <a:spcBef>
                <a:spcPts val="0"/>
              </a:spcBef>
              <a:spcAft>
                <a:spcPts val="0"/>
              </a:spcAft>
              <a:buNone/>
            </a:pPr>
            <a:r>
              <a:t/>
            </a:r>
            <a:endParaRPr sz="1700"/>
          </a:p>
          <a:p>
            <a:pPr indent="0" lvl="0" marL="0" rtl="0" algn="ctr">
              <a:spcBef>
                <a:spcPts val="0"/>
              </a:spcBef>
              <a:spcAft>
                <a:spcPts val="0"/>
              </a:spcAft>
              <a:buNone/>
            </a:pPr>
            <a:r>
              <a:rPr lang="en-GB" sz="1100">
                <a:solidFill>
                  <a:schemeClr val="dk1"/>
                </a:solidFill>
              </a:rPr>
              <a:t>It computes the </a:t>
            </a:r>
            <a:r>
              <a:rPr b="1" lang="en-GB" sz="1100">
                <a:solidFill>
                  <a:schemeClr val="dk1"/>
                </a:solidFill>
              </a:rPr>
              <a:t>average</a:t>
            </a:r>
            <a:r>
              <a:rPr lang="en-GB" sz="1100">
                <a:solidFill>
                  <a:schemeClr val="dk1"/>
                </a:solidFill>
              </a:rPr>
              <a:t> of all values in the pooling window.</a:t>
            </a:r>
            <a:endParaRPr sz="1100">
              <a:solidFill>
                <a:schemeClr val="dk1"/>
              </a:solidFill>
            </a:endParaRPr>
          </a:p>
          <a:p>
            <a:pPr indent="0" lvl="0" marL="0" rtl="0" algn="ctr">
              <a:spcBef>
                <a:spcPts val="0"/>
              </a:spcBef>
              <a:spcAft>
                <a:spcPts val="0"/>
              </a:spcAft>
              <a:buNone/>
            </a:pPr>
            <a:r>
              <a:t/>
            </a:r>
            <a:endParaRPr sz="1100">
              <a:solidFill>
                <a:schemeClr val="dk1"/>
              </a:solidFill>
            </a:endParaRPr>
          </a:p>
          <a:p>
            <a:pPr indent="0" lvl="0" marL="0" rtl="0" algn="ctr">
              <a:spcBef>
                <a:spcPts val="0"/>
              </a:spcBef>
              <a:spcAft>
                <a:spcPts val="0"/>
              </a:spcAft>
              <a:buClr>
                <a:schemeClr val="dk1"/>
              </a:buClr>
              <a:buSzPts val="1100"/>
              <a:buFont typeface="Arial"/>
              <a:buNone/>
            </a:pPr>
            <a:r>
              <a:t/>
            </a:r>
            <a:endParaRPr sz="1100">
              <a:solidFill>
                <a:schemeClr val="dk1"/>
              </a:solidFill>
            </a:endParaRPr>
          </a:p>
          <a:p>
            <a:pPr indent="0" lvl="0" marL="0" rtl="0" algn="ctr">
              <a:spcBef>
                <a:spcPts val="0"/>
              </a:spcBef>
              <a:spcAft>
                <a:spcPts val="0"/>
              </a:spcAft>
              <a:buClr>
                <a:schemeClr val="dk1"/>
              </a:buClr>
              <a:buSzPts val="1100"/>
              <a:buFont typeface="Arial"/>
              <a:buNone/>
            </a:pPr>
            <a:r>
              <a:rPr b="1" lang="en-GB" sz="1100">
                <a:solidFill>
                  <a:schemeClr val="dk1"/>
                </a:solidFill>
              </a:rPr>
              <a:t>Use Case:</a:t>
            </a:r>
            <a:r>
              <a:rPr lang="en-GB" sz="1100">
                <a:solidFill>
                  <a:schemeClr val="dk1"/>
                </a:solidFill>
              </a:rPr>
              <a:t> Often used when preserving background information or reducing noise is important.</a:t>
            </a:r>
            <a:endParaRPr sz="1100">
              <a:solidFill>
                <a:schemeClr val="dk1"/>
              </a:solidFill>
            </a:endParaRPr>
          </a:p>
          <a:p>
            <a:pPr indent="0" lvl="0" marL="0" rtl="0" algn="ctr">
              <a:spcBef>
                <a:spcPts val="0"/>
              </a:spcBef>
              <a:spcAft>
                <a:spcPts val="0"/>
              </a:spcAft>
              <a:buNone/>
            </a:pPr>
            <a:r>
              <a:t/>
            </a:r>
            <a:endParaRPr sz="1700"/>
          </a:p>
        </p:txBody>
      </p:sp>
      <p:sp>
        <p:nvSpPr>
          <p:cNvPr id="68" name="Google Shape;68;p14"/>
          <p:cNvSpPr txBox="1"/>
          <p:nvPr>
            <p:ph idx="1" type="subTitle"/>
          </p:nvPr>
        </p:nvSpPr>
        <p:spPr>
          <a:xfrm>
            <a:off x="4486850" y="839251"/>
            <a:ext cx="4489500" cy="1732500"/>
          </a:xfrm>
          <a:prstGeom prst="rect">
            <a:avLst/>
          </a:prstGeom>
        </p:spPr>
        <p:txBody>
          <a:bodyPr anchorCtr="0" anchor="t" bIns="91425" lIns="91425" spcFirstLastPara="1" rIns="91425" wrap="square" tIns="91425">
            <a:normAutofit fontScale="25000" lnSpcReduction="20000"/>
          </a:bodyPr>
          <a:lstStyle/>
          <a:p>
            <a:pPr indent="0" lvl="0" marL="0" rtl="0" algn="ctr">
              <a:spcBef>
                <a:spcPts val="0"/>
              </a:spcBef>
              <a:spcAft>
                <a:spcPts val="0"/>
              </a:spcAft>
              <a:buNone/>
            </a:pPr>
            <a:r>
              <a:rPr lang="en-GB" sz="6873"/>
              <a:t>Max </a:t>
            </a:r>
            <a:r>
              <a:rPr lang="en-GB" sz="6873"/>
              <a:t>pooling</a:t>
            </a:r>
            <a:endParaRPr sz="6873"/>
          </a:p>
          <a:p>
            <a:pPr indent="0" lvl="0" marL="0" rtl="0" algn="ctr">
              <a:spcBef>
                <a:spcPts val="0"/>
              </a:spcBef>
              <a:spcAft>
                <a:spcPts val="0"/>
              </a:spcAft>
              <a:buNone/>
            </a:pPr>
            <a:r>
              <a:t/>
            </a:r>
            <a:endParaRPr sz="1700"/>
          </a:p>
          <a:p>
            <a:pPr indent="0" lvl="0" marL="0" rtl="0" algn="l">
              <a:lnSpc>
                <a:spcPct val="115000"/>
              </a:lnSpc>
              <a:spcBef>
                <a:spcPts val="1200"/>
              </a:spcBef>
              <a:spcAft>
                <a:spcPts val="0"/>
              </a:spcAft>
              <a:buClr>
                <a:schemeClr val="dk1"/>
              </a:buClr>
              <a:buSzPts val="275"/>
              <a:buFont typeface="Arial"/>
              <a:buNone/>
            </a:pPr>
            <a:r>
              <a:rPr lang="en-GB" sz="4400">
                <a:solidFill>
                  <a:schemeClr val="dk1"/>
                </a:solidFill>
              </a:rPr>
              <a:t>Selects the </a:t>
            </a:r>
            <a:r>
              <a:rPr b="1" lang="en-GB" sz="4400">
                <a:solidFill>
                  <a:schemeClr val="dk1"/>
                </a:solidFill>
              </a:rPr>
              <a:t>maximum value</a:t>
            </a:r>
            <a:r>
              <a:rPr lang="en-GB" sz="4400">
                <a:solidFill>
                  <a:schemeClr val="dk1"/>
                </a:solidFill>
              </a:rPr>
              <a:t> from the pooling window</a:t>
            </a:r>
            <a:endParaRPr sz="4400">
              <a:solidFill>
                <a:schemeClr val="dk1"/>
              </a:solidFill>
            </a:endParaRPr>
          </a:p>
          <a:p>
            <a:pPr indent="0" lvl="0" marL="0" rtl="0" algn="l">
              <a:lnSpc>
                <a:spcPct val="115000"/>
              </a:lnSpc>
              <a:spcBef>
                <a:spcPts val="1200"/>
              </a:spcBef>
              <a:spcAft>
                <a:spcPts val="0"/>
              </a:spcAft>
              <a:buClr>
                <a:schemeClr val="dk1"/>
              </a:buClr>
              <a:buSzPts val="275"/>
              <a:buFont typeface="Arial"/>
              <a:buNone/>
            </a:pPr>
            <a:r>
              <a:rPr b="1" lang="en-GB" sz="4400">
                <a:solidFill>
                  <a:schemeClr val="dk1"/>
                </a:solidFill>
              </a:rPr>
              <a:t>Use Case:</a:t>
            </a:r>
            <a:r>
              <a:rPr lang="en-GB" sz="4400">
                <a:solidFill>
                  <a:schemeClr val="dk1"/>
                </a:solidFill>
              </a:rPr>
              <a:t> Commonly used to enhance the most </a:t>
            </a:r>
            <a:r>
              <a:rPr b="1" lang="en-GB" sz="4400">
                <a:solidFill>
                  <a:schemeClr val="dk1"/>
                </a:solidFill>
              </a:rPr>
              <a:t>dominant patterns</a:t>
            </a:r>
            <a:r>
              <a:rPr lang="en-GB" sz="4400">
                <a:solidFill>
                  <a:schemeClr val="dk1"/>
                </a:solidFill>
              </a:rPr>
              <a:t>, such as edges or textures, while reducing the spatial dimensions of the feature map.</a:t>
            </a:r>
            <a:endParaRPr sz="4400">
              <a:solidFill>
                <a:schemeClr val="dk1"/>
              </a:solidFill>
            </a:endParaRPr>
          </a:p>
          <a:p>
            <a:pPr indent="0" lvl="0" marL="0" rtl="0" algn="ctr">
              <a:spcBef>
                <a:spcPts val="1200"/>
              </a:spcBef>
              <a:spcAft>
                <a:spcPts val="0"/>
              </a:spcAft>
              <a:buNone/>
            </a:pPr>
            <a:r>
              <a:t/>
            </a:r>
            <a:endParaRPr b="1" sz="1100">
              <a:solidFill>
                <a:schemeClr val="dk1"/>
              </a:solidFill>
            </a:endParaRPr>
          </a:p>
          <a:p>
            <a:pPr indent="0" lvl="0" marL="0" rtl="0" algn="ctr">
              <a:spcBef>
                <a:spcPts val="0"/>
              </a:spcBef>
              <a:spcAft>
                <a:spcPts val="0"/>
              </a:spcAft>
              <a:buNone/>
            </a:pPr>
            <a:r>
              <a:t/>
            </a: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ctrTitle"/>
          </p:nvPr>
        </p:nvSpPr>
        <p:spPr>
          <a:xfrm>
            <a:off x="141400" y="54800"/>
            <a:ext cx="4798500" cy="619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GB" sz="3600"/>
              <a:t>Example</a:t>
            </a:r>
            <a:endParaRPr sz="3600"/>
          </a:p>
        </p:txBody>
      </p:sp>
      <p:sp>
        <p:nvSpPr>
          <p:cNvPr id="74" name="Google Shape;74;p15"/>
          <p:cNvSpPr txBox="1"/>
          <p:nvPr>
            <p:ph idx="1" type="subTitle"/>
          </p:nvPr>
        </p:nvSpPr>
        <p:spPr>
          <a:xfrm>
            <a:off x="2861300" y="218050"/>
            <a:ext cx="3296400" cy="24048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95000"/>
              </a:lnSpc>
              <a:spcBef>
                <a:spcPts val="1200"/>
              </a:spcBef>
              <a:spcAft>
                <a:spcPts val="0"/>
              </a:spcAft>
              <a:buClr>
                <a:schemeClr val="dk1"/>
              </a:buClr>
              <a:buSzPts val="1018"/>
              <a:buFont typeface="Arial"/>
              <a:buNone/>
            </a:pPr>
            <a:r>
              <a:rPr lang="en-GB" sz="1217">
                <a:solidFill>
                  <a:schemeClr val="dk1"/>
                </a:solidFill>
              </a:rPr>
              <a:t>Consider an </a:t>
            </a:r>
            <a:r>
              <a:rPr b="1" lang="en-GB" sz="1217">
                <a:solidFill>
                  <a:schemeClr val="dk1"/>
                </a:solidFill>
              </a:rPr>
              <a:t>MNIST</a:t>
            </a:r>
            <a:r>
              <a:rPr lang="en-GB" sz="1217">
                <a:solidFill>
                  <a:schemeClr val="dk1"/>
                </a:solidFill>
              </a:rPr>
              <a:t> image of size </a:t>
            </a:r>
            <a:r>
              <a:rPr b="1" lang="en-GB" sz="1217">
                <a:solidFill>
                  <a:schemeClr val="dk1"/>
                </a:solidFill>
              </a:rPr>
              <a:t>28 × 28</a:t>
            </a:r>
            <a:r>
              <a:rPr lang="en-GB" sz="1217">
                <a:solidFill>
                  <a:schemeClr val="dk1"/>
                </a:solidFill>
              </a:rPr>
              <a:t> with:</a:t>
            </a:r>
            <a:endParaRPr sz="1217">
              <a:solidFill>
                <a:schemeClr val="dk1"/>
              </a:solidFill>
            </a:endParaRPr>
          </a:p>
          <a:p>
            <a:pPr indent="-305911" lvl="0" marL="457200" rtl="0" algn="l">
              <a:lnSpc>
                <a:spcPct val="95000"/>
              </a:lnSpc>
              <a:spcBef>
                <a:spcPts val="1200"/>
              </a:spcBef>
              <a:spcAft>
                <a:spcPts val="0"/>
              </a:spcAft>
              <a:buClr>
                <a:schemeClr val="dk1"/>
              </a:buClr>
              <a:buSzPts val="1218"/>
              <a:buChar char="●"/>
            </a:pPr>
            <a:r>
              <a:rPr b="1" lang="en-GB" sz="1217">
                <a:solidFill>
                  <a:schemeClr val="dk1"/>
                </a:solidFill>
              </a:rPr>
              <a:t>Convolution Layer:</a:t>
            </a:r>
            <a:br>
              <a:rPr b="1" lang="en-GB" sz="1217">
                <a:solidFill>
                  <a:schemeClr val="dk1"/>
                </a:solidFill>
              </a:rPr>
            </a:br>
            <a:endParaRPr b="1" sz="1217">
              <a:solidFill>
                <a:schemeClr val="dk1"/>
              </a:solidFill>
            </a:endParaRPr>
          </a:p>
          <a:p>
            <a:pPr indent="-305911" lvl="1" marL="914400" rtl="0" algn="l">
              <a:lnSpc>
                <a:spcPct val="95000"/>
              </a:lnSpc>
              <a:spcBef>
                <a:spcPts val="0"/>
              </a:spcBef>
              <a:spcAft>
                <a:spcPts val="0"/>
              </a:spcAft>
              <a:buClr>
                <a:schemeClr val="dk1"/>
              </a:buClr>
              <a:buSzPts val="1218"/>
              <a:buChar char="○"/>
            </a:pPr>
            <a:r>
              <a:rPr lang="en-GB" sz="1217">
                <a:solidFill>
                  <a:schemeClr val="dk1"/>
                </a:solidFill>
              </a:rPr>
              <a:t>Kernel size = </a:t>
            </a:r>
            <a:r>
              <a:rPr b="1" lang="en-GB" sz="1217">
                <a:solidFill>
                  <a:schemeClr val="dk1"/>
                </a:solidFill>
              </a:rPr>
              <a:t>3 × 3</a:t>
            </a:r>
            <a:endParaRPr b="1" sz="1217">
              <a:solidFill>
                <a:schemeClr val="dk1"/>
              </a:solidFill>
            </a:endParaRPr>
          </a:p>
          <a:p>
            <a:pPr indent="-305911" lvl="1" marL="914400" rtl="0" algn="l">
              <a:lnSpc>
                <a:spcPct val="95000"/>
              </a:lnSpc>
              <a:spcBef>
                <a:spcPts val="0"/>
              </a:spcBef>
              <a:spcAft>
                <a:spcPts val="0"/>
              </a:spcAft>
              <a:buClr>
                <a:schemeClr val="dk1"/>
              </a:buClr>
              <a:buSzPts val="1218"/>
              <a:buChar char="○"/>
            </a:pPr>
            <a:r>
              <a:rPr lang="en-GB" sz="1217">
                <a:solidFill>
                  <a:schemeClr val="dk1"/>
                </a:solidFill>
              </a:rPr>
              <a:t>Stride = </a:t>
            </a:r>
            <a:r>
              <a:rPr b="1" lang="en-GB" sz="1217">
                <a:solidFill>
                  <a:schemeClr val="dk1"/>
                </a:solidFill>
              </a:rPr>
              <a:t>1</a:t>
            </a:r>
            <a:endParaRPr b="1" sz="1217">
              <a:solidFill>
                <a:schemeClr val="dk1"/>
              </a:solidFill>
            </a:endParaRPr>
          </a:p>
          <a:p>
            <a:pPr indent="-305911" lvl="1" marL="914400" rtl="0" algn="l">
              <a:lnSpc>
                <a:spcPct val="95000"/>
              </a:lnSpc>
              <a:spcBef>
                <a:spcPts val="0"/>
              </a:spcBef>
              <a:spcAft>
                <a:spcPts val="0"/>
              </a:spcAft>
              <a:buClr>
                <a:schemeClr val="dk1"/>
              </a:buClr>
              <a:buSzPts val="1218"/>
              <a:buChar char="○"/>
            </a:pPr>
            <a:r>
              <a:rPr lang="en-GB" sz="1217">
                <a:solidFill>
                  <a:schemeClr val="dk1"/>
                </a:solidFill>
              </a:rPr>
              <a:t>Padding = </a:t>
            </a:r>
            <a:r>
              <a:rPr b="1" lang="en-GB" sz="1217">
                <a:solidFill>
                  <a:schemeClr val="dk1"/>
                </a:solidFill>
              </a:rPr>
              <a:t>1</a:t>
            </a:r>
            <a:endParaRPr b="1" sz="1217">
              <a:solidFill>
                <a:schemeClr val="dk1"/>
              </a:solidFill>
            </a:endParaRPr>
          </a:p>
          <a:p>
            <a:pPr indent="-305911" lvl="0" marL="457200" rtl="0" algn="l">
              <a:lnSpc>
                <a:spcPct val="95000"/>
              </a:lnSpc>
              <a:spcBef>
                <a:spcPts val="0"/>
              </a:spcBef>
              <a:spcAft>
                <a:spcPts val="0"/>
              </a:spcAft>
              <a:buClr>
                <a:schemeClr val="dk1"/>
              </a:buClr>
              <a:buSzPts val="1218"/>
              <a:buChar char="●"/>
            </a:pPr>
            <a:r>
              <a:rPr b="1" lang="en-GB" sz="1217">
                <a:solidFill>
                  <a:schemeClr val="dk1"/>
                </a:solidFill>
              </a:rPr>
              <a:t>Max Pooling Layer:</a:t>
            </a:r>
            <a:br>
              <a:rPr b="1" lang="en-GB" sz="1217">
                <a:solidFill>
                  <a:schemeClr val="dk1"/>
                </a:solidFill>
              </a:rPr>
            </a:br>
            <a:endParaRPr b="1" sz="1217">
              <a:solidFill>
                <a:schemeClr val="dk1"/>
              </a:solidFill>
            </a:endParaRPr>
          </a:p>
          <a:p>
            <a:pPr indent="-305911" lvl="1" marL="914400" rtl="0" algn="l">
              <a:lnSpc>
                <a:spcPct val="95000"/>
              </a:lnSpc>
              <a:spcBef>
                <a:spcPts val="0"/>
              </a:spcBef>
              <a:spcAft>
                <a:spcPts val="0"/>
              </a:spcAft>
              <a:buClr>
                <a:schemeClr val="dk1"/>
              </a:buClr>
              <a:buSzPts val="1218"/>
              <a:buChar char="○"/>
            </a:pPr>
            <a:r>
              <a:rPr lang="en-GB" sz="1217">
                <a:solidFill>
                  <a:schemeClr val="dk1"/>
                </a:solidFill>
              </a:rPr>
              <a:t>Pool size = </a:t>
            </a:r>
            <a:r>
              <a:rPr b="1" lang="en-GB" sz="1217">
                <a:solidFill>
                  <a:schemeClr val="dk1"/>
                </a:solidFill>
              </a:rPr>
              <a:t>2 × 2</a:t>
            </a:r>
            <a:endParaRPr b="1" sz="1217">
              <a:solidFill>
                <a:schemeClr val="dk1"/>
              </a:solidFill>
            </a:endParaRPr>
          </a:p>
          <a:p>
            <a:pPr indent="-305911" lvl="1" marL="914400" rtl="0" algn="l">
              <a:lnSpc>
                <a:spcPct val="95000"/>
              </a:lnSpc>
              <a:spcBef>
                <a:spcPts val="0"/>
              </a:spcBef>
              <a:spcAft>
                <a:spcPts val="0"/>
              </a:spcAft>
              <a:buClr>
                <a:schemeClr val="dk1"/>
              </a:buClr>
              <a:buSzPts val="1218"/>
              <a:buChar char="○"/>
            </a:pPr>
            <a:r>
              <a:rPr lang="en-GB" sz="1217">
                <a:solidFill>
                  <a:schemeClr val="dk1"/>
                </a:solidFill>
              </a:rPr>
              <a:t>Stride = </a:t>
            </a:r>
            <a:r>
              <a:rPr b="1" lang="en-GB" sz="1217">
                <a:solidFill>
                  <a:schemeClr val="dk1"/>
                </a:solidFill>
              </a:rPr>
              <a:t>2</a:t>
            </a:r>
            <a:endParaRPr b="1" sz="1217">
              <a:solidFill>
                <a:schemeClr val="dk1"/>
              </a:solidFill>
            </a:endParaRPr>
          </a:p>
          <a:p>
            <a:pPr indent="0" lvl="0" marL="0" rtl="0" algn="ctr">
              <a:lnSpc>
                <a:spcPct val="80000"/>
              </a:lnSpc>
              <a:spcBef>
                <a:spcPts val="1200"/>
              </a:spcBef>
              <a:spcAft>
                <a:spcPts val="0"/>
              </a:spcAft>
              <a:buSzPts val="1018"/>
              <a:buNone/>
            </a:pPr>
            <a:r>
              <a:t/>
            </a:r>
            <a:endParaRPr sz="2790"/>
          </a:p>
        </p:txBody>
      </p:sp>
      <p:sp>
        <p:nvSpPr>
          <p:cNvPr id="75" name="Google Shape;75;p15"/>
          <p:cNvSpPr txBox="1"/>
          <p:nvPr>
            <p:ph idx="1" type="subTitle"/>
          </p:nvPr>
        </p:nvSpPr>
        <p:spPr>
          <a:xfrm>
            <a:off x="235075" y="2728425"/>
            <a:ext cx="4140300" cy="22683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Step 1: Convolution Layer Calculation</a:t>
            </a:r>
            <a:endParaRPr b="1" sz="1300">
              <a:solidFill>
                <a:schemeClr val="dk1"/>
              </a:solidFill>
            </a:endParaRPr>
          </a:p>
          <a:p>
            <a:pPr indent="0" lvl="0" marL="0" rtl="0" algn="l">
              <a:lnSpc>
                <a:spcPct val="115000"/>
              </a:lnSpc>
              <a:spcBef>
                <a:spcPts val="1200"/>
              </a:spcBef>
              <a:spcAft>
                <a:spcPts val="0"/>
              </a:spcAft>
              <a:buSzPts val="1100"/>
              <a:buNone/>
            </a:pPr>
            <a:r>
              <a:rPr lang="en-GB" sz="1100">
                <a:solidFill>
                  <a:schemeClr val="dk1"/>
                </a:solidFill>
              </a:rPr>
              <a:t>The formula to calculate the output size after a convolution layer is: </a:t>
            </a:r>
            <a:endParaRPr sz="1100">
              <a:solidFill>
                <a:schemeClr val="dk1"/>
              </a:solidFill>
            </a:endParaRPr>
          </a:p>
          <a:p>
            <a:pPr indent="457200" lvl="0" marL="457200" rtl="0" algn="l">
              <a:lnSpc>
                <a:spcPct val="115000"/>
              </a:lnSpc>
              <a:spcBef>
                <a:spcPts val="1200"/>
              </a:spcBef>
              <a:spcAft>
                <a:spcPts val="0"/>
              </a:spcAft>
              <a:buSzPts val="1100"/>
              <a:buNone/>
            </a:pPr>
            <a:r>
              <a:rPr lang="en-GB" sz="1100">
                <a:solidFill>
                  <a:schemeClr val="dk1"/>
                </a:solidFill>
              </a:rPr>
              <a:t>Output Size=(W−K+2P)S+1</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100">
                <a:solidFill>
                  <a:schemeClr val="dk1"/>
                </a:solidFill>
              </a:rPr>
              <a:t>For the convolution layer:</a:t>
            </a:r>
            <a:endParaRPr b="1" sz="1100">
              <a:solidFill>
                <a:schemeClr val="dk1"/>
              </a:solidFill>
            </a:endParaRPr>
          </a:p>
          <a:p>
            <a:pPr indent="0" lvl="0" marL="0" rtl="0" algn="ctr">
              <a:lnSpc>
                <a:spcPct val="80000"/>
              </a:lnSpc>
              <a:spcBef>
                <a:spcPts val="1200"/>
              </a:spcBef>
              <a:spcAft>
                <a:spcPts val="0"/>
              </a:spcAft>
              <a:buSzPts val="1018"/>
              <a:buNone/>
            </a:pPr>
            <a:r>
              <a:rPr lang="en-GB" sz="1100">
                <a:solidFill>
                  <a:schemeClr val="dk1"/>
                </a:solidFill>
              </a:rPr>
              <a:t>Output Size = (28−3+2×1</a:t>
            </a:r>
            <a:r>
              <a:rPr lang="en-GB" sz="1100">
                <a:solidFill>
                  <a:schemeClr val="dk1"/>
                </a:solidFill>
              </a:rPr>
              <a:t>)1+1  </a:t>
            </a:r>
            <a:r>
              <a:rPr lang="en-GB" sz="1100">
                <a:solidFill>
                  <a:schemeClr val="dk1"/>
                </a:solidFill>
              </a:rPr>
              <a:t>=28</a:t>
            </a:r>
            <a:endParaRPr sz="1100">
              <a:solidFill>
                <a:schemeClr val="dk1"/>
              </a:solidFill>
            </a:endParaRPr>
          </a:p>
          <a:p>
            <a:pPr indent="0" lvl="0" marL="0" rtl="0" algn="ctr">
              <a:lnSpc>
                <a:spcPct val="80000"/>
              </a:lnSpc>
              <a:spcBef>
                <a:spcPts val="0"/>
              </a:spcBef>
              <a:spcAft>
                <a:spcPts val="0"/>
              </a:spcAft>
              <a:buSzPts val="1018"/>
              <a:buNone/>
            </a:pPr>
            <a:r>
              <a:rPr lang="en-GB" sz="1100">
                <a:solidFill>
                  <a:schemeClr val="dk1"/>
                </a:solidFill>
              </a:rPr>
              <a:t>Image size ; 28 x 28</a:t>
            </a:r>
            <a:endParaRPr sz="1100">
              <a:solidFill>
                <a:schemeClr val="dk1"/>
              </a:solidFill>
            </a:endParaRPr>
          </a:p>
        </p:txBody>
      </p:sp>
      <p:sp>
        <p:nvSpPr>
          <p:cNvPr id="76" name="Google Shape;76;p15"/>
          <p:cNvSpPr txBox="1"/>
          <p:nvPr>
            <p:ph idx="1" type="subTitle"/>
          </p:nvPr>
        </p:nvSpPr>
        <p:spPr>
          <a:xfrm>
            <a:off x="4793475" y="2728425"/>
            <a:ext cx="4140300" cy="22683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Step 2: Pooling Layer Calculation</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100">
                <a:solidFill>
                  <a:schemeClr val="dk1"/>
                </a:solidFill>
              </a:rPr>
              <a:t>For pooling layers (e.g., MaxPool), the formula is:</a:t>
            </a:r>
            <a:endParaRPr sz="1100">
              <a:solidFill>
                <a:schemeClr val="dk1"/>
              </a:solidFill>
            </a:endParaRPr>
          </a:p>
          <a:p>
            <a:pPr indent="457200" lvl="0" marL="457200" rtl="0" algn="l">
              <a:lnSpc>
                <a:spcPct val="115000"/>
              </a:lnSpc>
              <a:spcBef>
                <a:spcPts val="1200"/>
              </a:spcBef>
              <a:spcAft>
                <a:spcPts val="0"/>
              </a:spcAft>
              <a:buClr>
                <a:schemeClr val="dk1"/>
              </a:buClr>
              <a:buSzPts val="1100"/>
              <a:buFont typeface="Arial"/>
              <a:buNone/>
            </a:pPr>
            <a:r>
              <a:rPr lang="en-GB" sz="1100">
                <a:solidFill>
                  <a:schemeClr val="dk1"/>
                </a:solidFill>
              </a:rPr>
              <a:t>Output Size=(W−K)/S+1</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100">
                <a:solidFill>
                  <a:schemeClr val="dk1"/>
                </a:solidFill>
              </a:rPr>
              <a:t>For the pooling layer:</a:t>
            </a:r>
            <a:endParaRPr b="1" sz="1100">
              <a:solidFill>
                <a:schemeClr val="dk1"/>
              </a:solidFill>
            </a:endParaRPr>
          </a:p>
          <a:p>
            <a:pPr indent="0" lvl="0" marL="0" rtl="0" algn="l">
              <a:lnSpc>
                <a:spcPct val="115000"/>
              </a:lnSpc>
              <a:spcBef>
                <a:spcPts val="1200"/>
              </a:spcBef>
              <a:spcAft>
                <a:spcPts val="0"/>
              </a:spcAft>
              <a:buSzPts val="1100"/>
              <a:buNone/>
            </a:pPr>
            <a:r>
              <a:rPr lang="en-GB" sz="1100">
                <a:solidFill>
                  <a:schemeClr val="dk1"/>
                </a:solidFill>
              </a:rPr>
              <a:t>Output Size = (28−2)/2+1  =  14</a:t>
            </a:r>
            <a:endParaRPr sz="1100">
              <a:solidFill>
                <a:schemeClr val="dk1"/>
              </a:solidFill>
            </a:endParaRPr>
          </a:p>
          <a:p>
            <a:pPr indent="0" lvl="0" marL="0" rtl="0" algn="l">
              <a:lnSpc>
                <a:spcPct val="115000"/>
              </a:lnSpc>
              <a:spcBef>
                <a:spcPts val="0"/>
              </a:spcBef>
              <a:spcAft>
                <a:spcPts val="0"/>
              </a:spcAft>
              <a:buSzPts val="1100"/>
              <a:buNone/>
            </a:pPr>
            <a:r>
              <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100">
                <a:solidFill>
                  <a:schemeClr val="dk1"/>
                </a:solidFill>
              </a:rPr>
              <a:t>Image size : 14 x 14</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sz="1100">
              <a:solidFill>
                <a:schemeClr val="dk1"/>
              </a:solidFill>
            </a:endParaRPr>
          </a:p>
          <a:p>
            <a:pPr indent="0" lvl="0" marL="0" rtl="0" algn="ctr">
              <a:lnSpc>
                <a:spcPct val="80000"/>
              </a:lnSpc>
              <a:spcBef>
                <a:spcPts val="1200"/>
              </a:spcBef>
              <a:spcAft>
                <a:spcPts val="0"/>
              </a:spcAft>
              <a:buSzPts val="1018"/>
              <a:buNone/>
            </a:pPr>
            <a:r>
              <a:t/>
            </a:r>
            <a:endParaRPr b="1" sz="13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ctrTitle"/>
          </p:nvPr>
        </p:nvSpPr>
        <p:spPr>
          <a:xfrm>
            <a:off x="260600" y="71500"/>
            <a:ext cx="8520600" cy="79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SzPts val="990"/>
              <a:buNone/>
            </a:pPr>
            <a:r>
              <a:rPr lang="en-GB" sz="3090"/>
              <a:t>Backpropagation in through pooling layer</a:t>
            </a:r>
            <a:endParaRPr sz="3090"/>
          </a:p>
        </p:txBody>
      </p:sp>
      <p:pic>
        <p:nvPicPr>
          <p:cNvPr id="82" name="Google Shape;82;p16" title="back_prop_though_pooling_layer.png"/>
          <p:cNvPicPr preferRelativeResize="0"/>
          <p:nvPr/>
        </p:nvPicPr>
        <p:blipFill>
          <a:blip r:embed="rId3">
            <a:alphaModFix/>
          </a:blip>
          <a:stretch>
            <a:fillRect/>
          </a:stretch>
        </p:blipFill>
        <p:spPr>
          <a:xfrm>
            <a:off x="2981350" y="1338700"/>
            <a:ext cx="5672100" cy="3176375"/>
          </a:xfrm>
          <a:prstGeom prst="rect">
            <a:avLst/>
          </a:prstGeom>
          <a:noFill/>
          <a:ln>
            <a:noFill/>
          </a:ln>
        </p:spPr>
      </p:pic>
      <p:sp>
        <p:nvSpPr>
          <p:cNvPr id="83" name="Google Shape;83;p16"/>
          <p:cNvSpPr txBox="1"/>
          <p:nvPr>
            <p:ph idx="1" type="subTitle"/>
          </p:nvPr>
        </p:nvSpPr>
        <p:spPr>
          <a:xfrm>
            <a:off x="328725" y="1978775"/>
            <a:ext cx="2363100" cy="2366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75"/>
              <a:buNone/>
            </a:pPr>
            <a:r>
              <a:rPr b="1" lang="en-GB" sz="1475">
                <a:solidFill>
                  <a:schemeClr val="dk1"/>
                </a:solidFill>
              </a:rPr>
              <a:t>Max-pooling layer :   </a:t>
            </a:r>
            <a:r>
              <a:rPr lang="en-GB" sz="1475">
                <a:solidFill>
                  <a:schemeClr val="dk1"/>
                </a:solidFill>
              </a:rPr>
              <a:t>Pass the gradient corresponding to max value cell   and pass 0 as gradient for others</a:t>
            </a:r>
            <a:endParaRPr sz="19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ctrTitle"/>
          </p:nvPr>
        </p:nvSpPr>
        <p:spPr>
          <a:xfrm>
            <a:off x="2074475" y="139975"/>
            <a:ext cx="4176900" cy="653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GB" sz="3900"/>
              <a:t>Resnet</a:t>
            </a:r>
            <a:endParaRPr sz="3900"/>
          </a:p>
        </p:txBody>
      </p:sp>
      <p:sp>
        <p:nvSpPr>
          <p:cNvPr id="89" name="Google Shape;89;p17"/>
          <p:cNvSpPr txBox="1"/>
          <p:nvPr>
            <p:ph idx="1" type="subTitle"/>
          </p:nvPr>
        </p:nvSpPr>
        <p:spPr>
          <a:xfrm>
            <a:off x="175450" y="2118800"/>
            <a:ext cx="3699900" cy="897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35"/>
              <a:buNone/>
            </a:pPr>
            <a:r>
              <a:rPr lang="en-GB" sz="1979"/>
              <a:t>Skip connections to tackle vanishing gradient problem</a:t>
            </a:r>
            <a:endParaRPr sz="1979"/>
          </a:p>
        </p:txBody>
      </p:sp>
      <p:pic>
        <p:nvPicPr>
          <p:cNvPr id="90" name="Google Shape;90;p17" title="resnet.png"/>
          <p:cNvPicPr preferRelativeResize="0"/>
          <p:nvPr/>
        </p:nvPicPr>
        <p:blipFill>
          <a:blip r:embed="rId3">
            <a:alphaModFix/>
          </a:blip>
          <a:stretch>
            <a:fillRect/>
          </a:stretch>
        </p:blipFill>
        <p:spPr>
          <a:xfrm>
            <a:off x="3875350" y="1172975"/>
            <a:ext cx="4846825" cy="2797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ctrTitle"/>
          </p:nvPr>
        </p:nvSpPr>
        <p:spPr>
          <a:xfrm>
            <a:off x="551250" y="86700"/>
            <a:ext cx="7182000" cy="553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GB" sz="3080"/>
              <a:t>Inception net(Googlenet)</a:t>
            </a:r>
            <a:endParaRPr sz="3080"/>
          </a:p>
        </p:txBody>
      </p:sp>
      <p:pic>
        <p:nvPicPr>
          <p:cNvPr id="96" name="Google Shape;96;p18" title="inception_net.png"/>
          <p:cNvPicPr preferRelativeResize="0"/>
          <p:nvPr/>
        </p:nvPicPr>
        <p:blipFill>
          <a:blip r:embed="rId3">
            <a:alphaModFix/>
          </a:blip>
          <a:stretch>
            <a:fillRect/>
          </a:stretch>
        </p:blipFill>
        <p:spPr>
          <a:xfrm>
            <a:off x="3449675" y="1057300"/>
            <a:ext cx="5650625" cy="3193825"/>
          </a:xfrm>
          <a:prstGeom prst="rect">
            <a:avLst/>
          </a:prstGeom>
          <a:noFill/>
          <a:ln>
            <a:noFill/>
          </a:ln>
        </p:spPr>
      </p:pic>
      <p:sp>
        <p:nvSpPr>
          <p:cNvPr id="97" name="Google Shape;97;p18"/>
          <p:cNvSpPr txBox="1"/>
          <p:nvPr>
            <p:ph idx="1" type="subTitle"/>
          </p:nvPr>
        </p:nvSpPr>
        <p:spPr>
          <a:xfrm>
            <a:off x="88475" y="1836425"/>
            <a:ext cx="3361200" cy="2004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GB" sz="1475">
                <a:solidFill>
                  <a:schemeClr val="dk1"/>
                </a:solidFill>
              </a:rPr>
              <a:t>We often can't determine the optimal filter size, as the features extracted vary with the filter size. To address this, the model employs multiple filter sizes in parallel to capture diverse features.</a:t>
            </a:r>
            <a:endParaRPr sz="1475">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ctrTitle"/>
          </p:nvPr>
        </p:nvSpPr>
        <p:spPr>
          <a:xfrm>
            <a:off x="1040100" y="46275"/>
            <a:ext cx="7063800" cy="628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891"/>
              <a:buNone/>
            </a:pPr>
            <a:r>
              <a:rPr lang="en-GB" sz="3022"/>
              <a:t>Transferability of initial layers</a:t>
            </a:r>
            <a:endParaRPr sz="3022"/>
          </a:p>
        </p:txBody>
      </p:sp>
      <p:sp>
        <p:nvSpPr>
          <p:cNvPr id="103" name="Google Shape;103;p19"/>
          <p:cNvSpPr txBox="1"/>
          <p:nvPr>
            <p:ph idx="1" type="subTitle"/>
          </p:nvPr>
        </p:nvSpPr>
        <p:spPr>
          <a:xfrm>
            <a:off x="141400" y="739275"/>
            <a:ext cx="8520600" cy="982800"/>
          </a:xfrm>
          <a:prstGeom prst="rect">
            <a:avLst/>
          </a:prstGeom>
        </p:spPr>
        <p:txBody>
          <a:bodyPr anchorCtr="0" anchor="t" bIns="91425" lIns="91425" spcFirstLastPara="1" rIns="91425" wrap="square" tIns="91425">
            <a:noAutofit/>
          </a:bodyPr>
          <a:lstStyle/>
          <a:p>
            <a:pPr indent="0" lvl="0" marL="0" rtl="0" algn="l">
              <a:lnSpc>
                <a:spcPct val="105000"/>
              </a:lnSpc>
              <a:spcBef>
                <a:spcPts val="1200"/>
              </a:spcBef>
              <a:spcAft>
                <a:spcPts val="0"/>
              </a:spcAft>
              <a:buClr>
                <a:schemeClr val="dk1"/>
              </a:buClr>
              <a:buSzPts val="358"/>
              <a:buFont typeface="Arial"/>
              <a:buNone/>
            </a:pPr>
            <a:r>
              <a:rPr b="1" lang="en-GB" sz="1357">
                <a:solidFill>
                  <a:schemeClr val="dk1"/>
                </a:solidFill>
              </a:rPr>
              <a:t>Initial Layers Learn General Features:</a:t>
            </a:r>
            <a:endParaRPr b="1" sz="1357">
              <a:solidFill>
                <a:schemeClr val="dk1"/>
              </a:solidFill>
            </a:endParaRPr>
          </a:p>
          <a:p>
            <a:pPr indent="-314801" lvl="0" marL="457200" rtl="0" algn="l">
              <a:lnSpc>
                <a:spcPct val="105000"/>
              </a:lnSpc>
              <a:spcBef>
                <a:spcPts val="1200"/>
              </a:spcBef>
              <a:spcAft>
                <a:spcPts val="0"/>
              </a:spcAft>
              <a:buClr>
                <a:schemeClr val="dk1"/>
              </a:buClr>
              <a:buSzPts val="1358"/>
              <a:buChar char="●"/>
            </a:pPr>
            <a:r>
              <a:rPr lang="en-GB" sz="1357">
                <a:solidFill>
                  <a:schemeClr val="dk1"/>
                </a:solidFill>
              </a:rPr>
              <a:t>Early layers in a CNN capture </a:t>
            </a:r>
            <a:r>
              <a:rPr b="1" lang="en-GB" sz="1357">
                <a:solidFill>
                  <a:schemeClr val="dk1"/>
                </a:solidFill>
              </a:rPr>
              <a:t>low-level features</a:t>
            </a:r>
            <a:r>
              <a:rPr lang="en-GB" sz="1357">
                <a:solidFill>
                  <a:schemeClr val="dk1"/>
                </a:solidFill>
              </a:rPr>
              <a:t> such as </a:t>
            </a:r>
            <a:r>
              <a:rPr b="1" lang="en-GB" sz="1357">
                <a:solidFill>
                  <a:schemeClr val="dk1"/>
                </a:solidFill>
              </a:rPr>
              <a:t>edges</a:t>
            </a:r>
            <a:r>
              <a:rPr lang="en-GB" sz="1357">
                <a:solidFill>
                  <a:schemeClr val="dk1"/>
                </a:solidFill>
              </a:rPr>
              <a:t>, </a:t>
            </a:r>
            <a:r>
              <a:rPr b="1" lang="en-GB" sz="1357">
                <a:solidFill>
                  <a:schemeClr val="dk1"/>
                </a:solidFill>
              </a:rPr>
              <a:t>textures</a:t>
            </a:r>
            <a:r>
              <a:rPr lang="en-GB" sz="1357">
                <a:solidFill>
                  <a:schemeClr val="dk1"/>
                </a:solidFill>
              </a:rPr>
              <a:t>, and </a:t>
            </a:r>
            <a:r>
              <a:rPr b="1" lang="en-GB" sz="1357">
                <a:solidFill>
                  <a:schemeClr val="dk1"/>
                </a:solidFill>
              </a:rPr>
              <a:t>simple patterns</a:t>
            </a:r>
            <a:r>
              <a:rPr lang="en-GB" sz="1357">
                <a:solidFill>
                  <a:schemeClr val="dk1"/>
                </a:solidFill>
              </a:rPr>
              <a:t>.</a:t>
            </a:r>
            <a:endParaRPr sz="1357">
              <a:solidFill>
                <a:schemeClr val="dk1"/>
              </a:solidFill>
            </a:endParaRPr>
          </a:p>
          <a:p>
            <a:pPr indent="-314801" lvl="0" marL="457200" rtl="0" algn="l">
              <a:lnSpc>
                <a:spcPct val="105000"/>
              </a:lnSpc>
              <a:spcBef>
                <a:spcPts val="0"/>
              </a:spcBef>
              <a:spcAft>
                <a:spcPts val="0"/>
              </a:spcAft>
              <a:buClr>
                <a:schemeClr val="dk1"/>
              </a:buClr>
              <a:buSzPts val="1358"/>
              <a:buChar char="●"/>
            </a:pPr>
            <a:r>
              <a:rPr lang="en-GB" sz="1357">
                <a:solidFill>
                  <a:schemeClr val="dk1"/>
                </a:solidFill>
              </a:rPr>
              <a:t>These features are often </a:t>
            </a:r>
            <a:r>
              <a:rPr b="1" lang="en-GB" sz="1357">
                <a:solidFill>
                  <a:schemeClr val="dk1"/>
                </a:solidFill>
              </a:rPr>
              <a:t>universal</a:t>
            </a:r>
            <a:r>
              <a:rPr lang="en-GB" sz="1357">
                <a:solidFill>
                  <a:schemeClr val="dk1"/>
                </a:solidFill>
              </a:rPr>
              <a:t> across different vision tasks, making them transferable.</a:t>
            </a:r>
            <a:endParaRPr sz="1357">
              <a:solidFill>
                <a:schemeClr val="dk1"/>
              </a:solidFill>
            </a:endParaRPr>
          </a:p>
          <a:p>
            <a:pPr indent="0" lvl="0" marL="0" rtl="0" algn="ctr">
              <a:lnSpc>
                <a:spcPct val="90000"/>
              </a:lnSpc>
              <a:spcBef>
                <a:spcPts val="1200"/>
              </a:spcBef>
              <a:spcAft>
                <a:spcPts val="0"/>
              </a:spcAft>
              <a:buSzPts val="358"/>
              <a:buNone/>
            </a:pPr>
            <a:r>
              <a:t/>
            </a:r>
            <a:endParaRPr sz="1910"/>
          </a:p>
        </p:txBody>
      </p:sp>
      <p:sp>
        <p:nvSpPr>
          <p:cNvPr id="104" name="Google Shape;104;p19"/>
          <p:cNvSpPr txBox="1"/>
          <p:nvPr>
            <p:ph idx="1" type="subTitle"/>
          </p:nvPr>
        </p:nvSpPr>
        <p:spPr>
          <a:xfrm>
            <a:off x="235050" y="4442700"/>
            <a:ext cx="8520600" cy="779100"/>
          </a:xfrm>
          <a:prstGeom prst="rect">
            <a:avLst/>
          </a:prstGeom>
        </p:spPr>
        <p:txBody>
          <a:bodyPr anchorCtr="0" anchor="t" bIns="91425" lIns="91425" spcFirstLastPara="1" rIns="91425" wrap="square" tIns="91425">
            <a:noAutofit/>
          </a:bodyPr>
          <a:lstStyle/>
          <a:p>
            <a:pPr indent="0" lvl="0" marL="0" rtl="0" algn="l">
              <a:lnSpc>
                <a:spcPct val="105000"/>
              </a:lnSpc>
              <a:spcBef>
                <a:spcPts val="1200"/>
              </a:spcBef>
              <a:spcAft>
                <a:spcPts val="0"/>
              </a:spcAft>
              <a:buNone/>
            </a:pPr>
            <a:r>
              <a:rPr b="1" lang="en-GB" sz="1357">
                <a:solidFill>
                  <a:schemeClr val="dk1"/>
                </a:solidFill>
              </a:rPr>
              <a:t>In ssl, you will study about in which cases this </a:t>
            </a:r>
            <a:r>
              <a:rPr b="1" lang="en-GB" sz="1357">
                <a:solidFill>
                  <a:schemeClr val="dk1"/>
                </a:solidFill>
              </a:rPr>
              <a:t>transfer</a:t>
            </a:r>
            <a:r>
              <a:rPr b="1" lang="en-GB" sz="1357">
                <a:solidFill>
                  <a:schemeClr val="dk1"/>
                </a:solidFill>
              </a:rPr>
              <a:t> of </a:t>
            </a:r>
            <a:r>
              <a:rPr b="1" lang="en-GB" sz="1357">
                <a:solidFill>
                  <a:schemeClr val="dk1"/>
                </a:solidFill>
              </a:rPr>
              <a:t>initial</a:t>
            </a:r>
            <a:r>
              <a:rPr b="1" lang="en-GB" sz="1357">
                <a:solidFill>
                  <a:schemeClr val="dk1"/>
                </a:solidFill>
              </a:rPr>
              <a:t> layers is feasible i.e </a:t>
            </a:r>
            <a:r>
              <a:rPr b="1" lang="en-GB" sz="1357">
                <a:solidFill>
                  <a:schemeClr val="dk1"/>
                </a:solidFill>
              </a:rPr>
              <a:t>useful</a:t>
            </a:r>
            <a:r>
              <a:rPr b="1" lang="en-GB" sz="1357">
                <a:solidFill>
                  <a:schemeClr val="dk1"/>
                </a:solidFill>
              </a:rPr>
              <a:t> and provides good results. Factors can be like domain matching can effect the results.</a:t>
            </a:r>
            <a:endParaRPr b="1" sz="1357">
              <a:solidFill>
                <a:schemeClr val="dk1"/>
              </a:solidFill>
            </a:endParaRPr>
          </a:p>
          <a:p>
            <a:pPr indent="0" lvl="0" marL="0" rtl="0" algn="ctr">
              <a:lnSpc>
                <a:spcPct val="90000"/>
              </a:lnSpc>
              <a:spcBef>
                <a:spcPts val="1200"/>
              </a:spcBef>
              <a:spcAft>
                <a:spcPts val="0"/>
              </a:spcAft>
              <a:buSzPts val="358"/>
              <a:buNone/>
            </a:pPr>
            <a:r>
              <a:t/>
            </a:r>
            <a:endParaRPr sz="1910"/>
          </a:p>
        </p:txBody>
      </p:sp>
      <p:pic>
        <p:nvPicPr>
          <p:cNvPr id="105" name="Google Shape;105;p19" title="transfer_learning.jpg"/>
          <p:cNvPicPr preferRelativeResize="0"/>
          <p:nvPr/>
        </p:nvPicPr>
        <p:blipFill>
          <a:blip r:embed="rId3">
            <a:alphaModFix/>
          </a:blip>
          <a:stretch>
            <a:fillRect/>
          </a:stretch>
        </p:blipFill>
        <p:spPr>
          <a:xfrm>
            <a:off x="1736300" y="1653950"/>
            <a:ext cx="4736651" cy="26653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ctrTitle"/>
          </p:nvPr>
        </p:nvSpPr>
        <p:spPr>
          <a:xfrm>
            <a:off x="1640153" y="131450"/>
            <a:ext cx="5062500" cy="466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GB" sz="3500"/>
              <a:t>Revision : </a:t>
            </a:r>
            <a:r>
              <a:rPr lang="en-GB" sz="3500"/>
              <a:t>CNN property</a:t>
            </a:r>
            <a:endParaRPr sz="3500"/>
          </a:p>
        </p:txBody>
      </p:sp>
      <p:sp>
        <p:nvSpPr>
          <p:cNvPr id="111" name="Google Shape;111;p20"/>
          <p:cNvSpPr txBox="1"/>
          <p:nvPr>
            <p:ph idx="1" type="subTitle"/>
          </p:nvPr>
        </p:nvSpPr>
        <p:spPr>
          <a:xfrm>
            <a:off x="277625" y="986225"/>
            <a:ext cx="8520600" cy="792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275"/>
              <a:buFont typeface="Arial"/>
              <a:buNone/>
            </a:pPr>
            <a:r>
              <a:rPr b="1" lang="en-GB" sz="1475">
                <a:solidFill>
                  <a:schemeClr val="dk1"/>
                </a:solidFill>
              </a:rPr>
              <a:t>Local Feature Detection:</a:t>
            </a:r>
            <a:endParaRPr b="1" sz="1475">
              <a:solidFill>
                <a:schemeClr val="dk1"/>
              </a:solidFill>
            </a:endParaRPr>
          </a:p>
          <a:p>
            <a:pPr indent="-322262" lvl="0" marL="457200" rtl="0" algn="l">
              <a:lnSpc>
                <a:spcPct val="115000"/>
              </a:lnSpc>
              <a:spcBef>
                <a:spcPts val="1200"/>
              </a:spcBef>
              <a:spcAft>
                <a:spcPts val="0"/>
              </a:spcAft>
              <a:buClr>
                <a:schemeClr val="dk1"/>
              </a:buClr>
              <a:buSzPts val="1475"/>
              <a:buChar char="●"/>
            </a:pPr>
            <a:r>
              <a:rPr lang="en-GB" sz="1475">
                <a:solidFill>
                  <a:schemeClr val="dk1"/>
                </a:solidFill>
              </a:rPr>
              <a:t>CNNs detect patterns using small </a:t>
            </a:r>
            <a:r>
              <a:rPr b="1" lang="en-GB" sz="1475">
                <a:solidFill>
                  <a:schemeClr val="dk1"/>
                </a:solidFill>
              </a:rPr>
              <a:t>receptive fields</a:t>
            </a:r>
            <a:r>
              <a:rPr lang="en-GB" sz="1475">
                <a:solidFill>
                  <a:schemeClr val="dk1"/>
                </a:solidFill>
              </a:rPr>
              <a:t> (local regions) rather than analyzing the entire image at once (unlike Transformers, which focus on global dependencies).</a:t>
            </a:r>
            <a:endParaRPr sz="1475">
              <a:solidFill>
                <a:schemeClr val="dk1"/>
              </a:solidFill>
            </a:endParaRPr>
          </a:p>
          <a:p>
            <a:pPr indent="-322262" lvl="0" marL="457200" rtl="0" algn="l">
              <a:lnSpc>
                <a:spcPct val="115000"/>
              </a:lnSpc>
              <a:spcBef>
                <a:spcPts val="0"/>
              </a:spcBef>
              <a:spcAft>
                <a:spcPts val="0"/>
              </a:spcAft>
              <a:buClr>
                <a:schemeClr val="dk1"/>
              </a:buClr>
              <a:buSzPts val="1475"/>
              <a:buChar char="●"/>
            </a:pPr>
            <a:r>
              <a:rPr lang="en-GB" sz="1475">
                <a:solidFill>
                  <a:schemeClr val="dk1"/>
                </a:solidFill>
              </a:rPr>
              <a:t>This local approach makes CNNs efficient for tasks like edge detection, texture recognition, etc.</a:t>
            </a:r>
            <a:endParaRPr sz="1475">
              <a:solidFill>
                <a:schemeClr val="dk1"/>
              </a:solidFill>
            </a:endParaRPr>
          </a:p>
          <a:p>
            <a:pPr indent="0" lvl="0" marL="457200" rtl="0" algn="l">
              <a:lnSpc>
                <a:spcPct val="115000"/>
              </a:lnSpc>
              <a:spcBef>
                <a:spcPts val="1200"/>
              </a:spcBef>
              <a:spcAft>
                <a:spcPts val="0"/>
              </a:spcAft>
              <a:buNone/>
            </a:pPr>
            <a:r>
              <a:t/>
            </a:r>
            <a:endParaRPr sz="1475">
              <a:solidFill>
                <a:schemeClr val="dk1"/>
              </a:solidFill>
            </a:endParaRPr>
          </a:p>
          <a:p>
            <a:pPr indent="0" lvl="0" marL="0" rtl="0" algn="l">
              <a:lnSpc>
                <a:spcPct val="115000"/>
              </a:lnSpc>
              <a:spcBef>
                <a:spcPts val="1200"/>
              </a:spcBef>
              <a:spcAft>
                <a:spcPts val="0"/>
              </a:spcAft>
              <a:buClr>
                <a:schemeClr val="dk1"/>
              </a:buClr>
              <a:buSzPts val="275"/>
              <a:buFont typeface="Arial"/>
              <a:buNone/>
            </a:pPr>
            <a:r>
              <a:rPr b="1" lang="en-GB" sz="1475">
                <a:solidFill>
                  <a:schemeClr val="dk1"/>
                </a:solidFill>
              </a:rPr>
              <a:t>Result of this local detection : Translation invariance and Rotation variance:</a:t>
            </a:r>
            <a:endParaRPr b="1" sz="1475">
              <a:solidFill>
                <a:schemeClr val="dk1"/>
              </a:solidFill>
            </a:endParaRPr>
          </a:p>
          <a:p>
            <a:pPr indent="-322262" lvl="0" marL="457200" rtl="0" algn="l">
              <a:lnSpc>
                <a:spcPct val="115000"/>
              </a:lnSpc>
              <a:spcBef>
                <a:spcPts val="1200"/>
              </a:spcBef>
              <a:spcAft>
                <a:spcPts val="0"/>
              </a:spcAft>
              <a:buClr>
                <a:schemeClr val="dk1"/>
              </a:buClr>
              <a:buSzPts val="1475"/>
              <a:buChar char="●"/>
            </a:pPr>
            <a:r>
              <a:rPr lang="en-GB" sz="1475">
                <a:solidFill>
                  <a:schemeClr val="dk1"/>
                </a:solidFill>
              </a:rPr>
              <a:t>CNNs exhibit </a:t>
            </a:r>
            <a:r>
              <a:rPr b="1" lang="en-GB" sz="1475">
                <a:solidFill>
                  <a:schemeClr val="dk1"/>
                </a:solidFill>
              </a:rPr>
              <a:t>translation invariance</a:t>
            </a:r>
            <a:r>
              <a:rPr lang="en-GB" sz="1475">
                <a:solidFill>
                  <a:schemeClr val="dk1"/>
                </a:solidFill>
              </a:rPr>
              <a:t> due to shared weights and pooling layers, meaning the network can recognize the same feature even if it shifts slightly.</a:t>
            </a:r>
            <a:endParaRPr sz="1475">
              <a:solidFill>
                <a:schemeClr val="dk1"/>
              </a:solidFill>
            </a:endParaRPr>
          </a:p>
          <a:p>
            <a:pPr indent="-322262" lvl="0" marL="457200" rtl="0" algn="l">
              <a:lnSpc>
                <a:spcPct val="115000"/>
              </a:lnSpc>
              <a:spcBef>
                <a:spcPts val="0"/>
              </a:spcBef>
              <a:spcAft>
                <a:spcPts val="0"/>
              </a:spcAft>
              <a:buClr>
                <a:schemeClr val="dk1"/>
              </a:buClr>
              <a:buSzPts val="1475"/>
              <a:buChar char="●"/>
            </a:pPr>
            <a:r>
              <a:rPr lang="en-GB" sz="1475">
                <a:solidFill>
                  <a:schemeClr val="dk1"/>
                </a:solidFill>
              </a:rPr>
              <a:t>However, CNNs are </a:t>
            </a:r>
            <a:r>
              <a:rPr b="1" lang="en-GB" sz="1475">
                <a:solidFill>
                  <a:schemeClr val="dk1"/>
                </a:solidFill>
              </a:rPr>
              <a:t>not inherently rotation invariant</a:t>
            </a:r>
            <a:r>
              <a:rPr lang="en-GB" sz="1475">
                <a:solidFill>
                  <a:schemeClr val="dk1"/>
                </a:solidFill>
              </a:rPr>
              <a:t>, meaning a rotated feature may appear unfamiliar unless rotation-specific augmentations or architectures like Capsule Networks are used.</a:t>
            </a:r>
            <a:endParaRPr sz="1475">
              <a:solidFill>
                <a:schemeClr val="dk1"/>
              </a:solidFill>
            </a:endParaRPr>
          </a:p>
          <a:p>
            <a:pPr indent="0" lvl="0" marL="0" rtl="0" algn="ctr">
              <a:lnSpc>
                <a:spcPct val="115000"/>
              </a:lnSpc>
              <a:spcBef>
                <a:spcPts val="1200"/>
              </a:spcBef>
              <a:spcAft>
                <a:spcPts val="0"/>
              </a:spcAft>
              <a:buSzPts val="275"/>
              <a:buNone/>
            </a:pPr>
            <a:r>
              <a:t/>
            </a:r>
            <a:endParaRPr sz="19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